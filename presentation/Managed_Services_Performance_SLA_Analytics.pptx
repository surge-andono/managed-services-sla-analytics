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1769" autoAdjust="0"/>
  </p:normalViewPr>
  <p:slideViewPr>
    <p:cSldViewPr snapToGrid="0" snapToObjects="1"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877F60-95C2-40FD-B2CB-B422A67A9CE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8343A-73E8-4CD5-A43D-2FFB800E4BD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658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Slide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membahas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managed services </a:t>
            </a:r>
            <a:r>
              <a:rPr lang="en-ID" dirty="0" err="1"/>
              <a:t>dipantau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end-to-end,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kepatuhan</a:t>
            </a:r>
            <a:r>
              <a:rPr lang="en-ID" dirty="0"/>
              <a:t> SLA, </a:t>
            </a:r>
            <a:r>
              <a:rPr lang="en-ID" dirty="0" err="1"/>
              <a:t>keandalan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, dan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.</a:t>
            </a:r>
            <a:endParaRPr lang="en-ID" i="1" dirty="0"/>
          </a:p>
          <a:p>
            <a:endParaRPr lang="en-ID" i="1" dirty="0"/>
          </a:p>
          <a:p>
            <a:r>
              <a:rPr lang="en-ID" i="0" dirty="0"/>
              <a:t>Dashboard </a:t>
            </a:r>
            <a:r>
              <a:rPr lang="en-ID" i="0" dirty="0" err="1"/>
              <a:t>dirancang</a:t>
            </a:r>
            <a:r>
              <a:rPr lang="en-ID" i="0" dirty="0"/>
              <a:t> </a:t>
            </a:r>
            <a:r>
              <a:rPr lang="en-ID" i="0" dirty="0" err="1"/>
              <a:t>bukan</a:t>
            </a:r>
            <a:r>
              <a:rPr lang="en-ID" i="0" dirty="0"/>
              <a:t> </a:t>
            </a:r>
            <a:r>
              <a:rPr lang="en-ID" i="0" dirty="0" err="1"/>
              <a:t>hanya</a:t>
            </a:r>
            <a:r>
              <a:rPr lang="en-ID" i="0" dirty="0"/>
              <a:t> </a:t>
            </a:r>
            <a:r>
              <a:rPr lang="en-ID" i="0" dirty="0" err="1"/>
              <a:t>untuk</a:t>
            </a:r>
            <a:r>
              <a:rPr lang="en-ID" i="0" dirty="0"/>
              <a:t> </a:t>
            </a:r>
            <a:r>
              <a:rPr lang="en-ID" i="0" dirty="0" err="1"/>
              <a:t>menampilkan</a:t>
            </a:r>
            <a:r>
              <a:rPr lang="en-ID" i="0" dirty="0"/>
              <a:t> data, </a:t>
            </a:r>
            <a:r>
              <a:rPr lang="en-ID" i="0" dirty="0" err="1"/>
              <a:t>tetapi</a:t>
            </a:r>
            <a:r>
              <a:rPr lang="en-ID" i="0" dirty="0"/>
              <a:t> </a:t>
            </a:r>
            <a:r>
              <a:rPr lang="en-ID" i="0" dirty="0" err="1"/>
              <a:t>untuk</a:t>
            </a:r>
            <a:r>
              <a:rPr lang="en-ID" i="0" dirty="0"/>
              <a:t> </a:t>
            </a:r>
            <a:r>
              <a:rPr lang="en-ID" i="0" dirty="0" err="1"/>
              <a:t>membantu</a:t>
            </a:r>
            <a:r>
              <a:rPr lang="en-ID" i="0" dirty="0"/>
              <a:t> </a:t>
            </a:r>
            <a:r>
              <a:rPr lang="en-ID" i="0" dirty="0" err="1"/>
              <a:t>pengambilan</a:t>
            </a:r>
            <a:r>
              <a:rPr lang="en-ID" i="0" dirty="0"/>
              <a:t> </a:t>
            </a:r>
            <a:r>
              <a:rPr lang="en-ID" i="0" dirty="0" err="1"/>
              <a:t>keputusan</a:t>
            </a:r>
            <a:r>
              <a:rPr lang="en-ID" i="0" dirty="0"/>
              <a:t> yang </a:t>
            </a:r>
            <a:r>
              <a:rPr lang="en-ID" i="0" dirty="0" err="1"/>
              <a:t>lebih</a:t>
            </a:r>
            <a:r>
              <a:rPr lang="en-ID" i="0" dirty="0"/>
              <a:t> </a:t>
            </a:r>
            <a:r>
              <a:rPr lang="en-ID" i="0" dirty="0" err="1"/>
              <a:t>cepat</a:t>
            </a:r>
            <a:r>
              <a:rPr lang="en-ID" i="0" dirty="0"/>
              <a:t>, </a:t>
            </a:r>
            <a:r>
              <a:rPr lang="en-ID" i="0" dirty="0" err="1"/>
              <a:t>lebih</a:t>
            </a:r>
            <a:r>
              <a:rPr lang="en-ID" i="0" dirty="0"/>
              <a:t> </a:t>
            </a:r>
            <a:r>
              <a:rPr lang="en-ID" i="0" dirty="0" err="1"/>
              <a:t>terarah</a:t>
            </a:r>
            <a:r>
              <a:rPr lang="en-ID" i="0" dirty="0"/>
              <a:t>, dan </a:t>
            </a:r>
            <a:r>
              <a:rPr lang="en-ID" i="0" dirty="0" err="1"/>
              <a:t>berbasis</a:t>
            </a:r>
            <a:r>
              <a:rPr lang="en-ID" i="0" dirty="0"/>
              <a:t> data yang </a:t>
            </a:r>
            <a:r>
              <a:rPr lang="en-ID" i="0" dirty="0" err="1"/>
              <a:t>dapat</a:t>
            </a:r>
            <a:r>
              <a:rPr lang="en-ID" i="0" dirty="0"/>
              <a:t> </a:t>
            </a:r>
            <a:r>
              <a:rPr lang="en-ID" i="0" dirty="0" err="1"/>
              <a:t>dipercaya</a:t>
            </a:r>
            <a:r>
              <a:rPr lang="en-ID" i="0" dirty="0"/>
              <a:t>.</a:t>
            </a:r>
          </a:p>
          <a:p>
            <a:endParaRPr lang="en-ID" i="0" dirty="0"/>
          </a:p>
          <a:p>
            <a:r>
              <a:rPr lang="en-ID" i="0" dirty="0" err="1"/>
              <a:t>Melalui</a:t>
            </a:r>
            <a:r>
              <a:rPr lang="en-ID" i="0" dirty="0"/>
              <a:t> dashboard </a:t>
            </a:r>
            <a:r>
              <a:rPr lang="en-ID" i="0" dirty="0" err="1"/>
              <a:t>ini</a:t>
            </a:r>
            <a:r>
              <a:rPr lang="en-ID" i="0" dirty="0"/>
              <a:t>, </a:t>
            </a:r>
            <a:r>
              <a:rPr lang="en-ID" i="0" dirty="0" err="1"/>
              <a:t>manajemen</a:t>
            </a:r>
            <a:r>
              <a:rPr lang="en-ID" i="0" dirty="0"/>
              <a:t> dan </a:t>
            </a:r>
            <a:r>
              <a:rPr lang="en-ID" i="0" dirty="0" err="1"/>
              <a:t>tim</a:t>
            </a:r>
            <a:r>
              <a:rPr lang="en-ID" i="0" dirty="0"/>
              <a:t> </a:t>
            </a:r>
            <a:r>
              <a:rPr lang="en-ID" i="0" dirty="0" err="1"/>
              <a:t>operasional</a:t>
            </a:r>
            <a:r>
              <a:rPr lang="en-ID" i="0" dirty="0"/>
              <a:t> </a:t>
            </a:r>
            <a:r>
              <a:rPr lang="en-ID" i="0" dirty="0" err="1"/>
              <a:t>dapat</a:t>
            </a:r>
            <a:r>
              <a:rPr lang="en-ID" i="0" dirty="0"/>
              <a:t> </a:t>
            </a:r>
            <a:r>
              <a:rPr lang="en-ID" i="0" dirty="0" err="1"/>
              <a:t>memiliki</a:t>
            </a:r>
            <a:r>
              <a:rPr lang="en-ID" i="0" dirty="0"/>
              <a:t> </a:t>
            </a:r>
            <a:r>
              <a:rPr lang="en-ID" i="0" dirty="0" err="1"/>
              <a:t>satu</a:t>
            </a:r>
            <a:r>
              <a:rPr lang="en-ID" i="0" dirty="0"/>
              <a:t> </a:t>
            </a:r>
            <a:r>
              <a:rPr lang="en-ID" i="0" dirty="0" err="1"/>
              <a:t>pandangan</a:t>
            </a:r>
            <a:r>
              <a:rPr lang="en-ID" i="0" dirty="0"/>
              <a:t> yang </a:t>
            </a:r>
            <a:r>
              <a:rPr lang="en-ID" i="0" dirty="0" err="1"/>
              <a:t>sama</a:t>
            </a:r>
            <a:r>
              <a:rPr lang="en-ID" i="0" dirty="0"/>
              <a:t> </a:t>
            </a:r>
            <a:r>
              <a:rPr lang="en-ID" i="0" dirty="0" err="1"/>
              <a:t>terhadap</a:t>
            </a:r>
            <a:r>
              <a:rPr lang="en-ID" i="0" dirty="0"/>
              <a:t> </a:t>
            </a:r>
            <a:r>
              <a:rPr lang="en-ID" i="0" dirty="0" err="1"/>
              <a:t>kondisi</a:t>
            </a:r>
            <a:r>
              <a:rPr lang="en-ID" i="0" dirty="0"/>
              <a:t> </a:t>
            </a:r>
            <a:r>
              <a:rPr lang="en-ID" i="0" dirty="0" err="1"/>
              <a:t>layanan</a:t>
            </a:r>
            <a:r>
              <a:rPr lang="en-ID" i="0" dirty="0"/>
              <a:t> dan area yang </a:t>
            </a:r>
            <a:r>
              <a:rPr lang="en-ID" i="0" dirty="0" err="1"/>
              <a:t>memerlukan</a:t>
            </a:r>
            <a:r>
              <a:rPr lang="en-ID" i="0" dirty="0"/>
              <a:t> </a:t>
            </a:r>
            <a:r>
              <a:rPr lang="en-ID" i="0" dirty="0" err="1"/>
              <a:t>perhatian</a:t>
            </a:r>
            <a:r>
              <a:rPr lang="en-ID" i="1" dirty="0"/>
              <a:t>.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0631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Business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Managed services </a:t>
            </a:r>
            <a:r>
              <a:rPr lang="en-ID" dirty="0" err="1"/>
              <a:t>beroperasi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/>
              <a:t>SLA </a:t>
            </a:r>
            <a:r>
              <a:rPr lang="en-ID" b="1" dirty="0" err="1"/>
              <a:t>ketat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berdampak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Kepuasan</a:t>
            </a:r>
            <a:r>
              <a:rPr lang="en-ID" dirty="0"/>
              <a:t> </a:t>
            </a:r>
            <a:r>
              <a:rPr lang="en-ID" dirty="0" err="1"/>
              <a:t>klien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eskalasi</a:t>
            </a:r>
            <a:endParaRPr lang="en-ID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operasional</a:t>
            </a:r>
            <a:endParaRPr lang="en-ID" b="1" dirty="0"/>
          </a:p>
          <a:p>
            <a:endParaRPr lang="en-ID" b="1" dirty="0"/>
          </a:p>
          <a:p>
            <a:r>
              <a:rPr lang="en-ID" b="1" dirty="0"/>
              <a:t>Dashboard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b="1" dirty="0" err="1"/>
              <a:t>visibilitas</a:t>
            </a:r>
            <a:r>
              <a:rPr lang="en-ID" b="1" dirty="0"/>
              <a:t> end-to-end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layanan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b="1" dirty="0" err="1"/>
              <a:t>risiko</a:t>
            </a:r>
            <a:r>
              <a:rPr lang="en-ID" b="1" dirty="0"/>
              <a:t> SLA </a:t>
            </a:r>
            <a:r>
              <a:rPr lang="en-ID" b="1" dirty="0" err="1"/>
              <a:t>lebih</a:t>
            </a:r>
            <a:r>
              <a:rPr lang="en-ID" b="1" dirty="0"/>
              <a:t> </a:t>
            </a:r>
            <a:r>
              <a:rPr lang="en-ID" b="1" dirty="0" err="1"/>
              <a:t>awal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b="1" dirty="0" err="1"/>
              <a:t>keputusan</a:t>
            </a:r>
            <a:r>
              <a:rPr lang="en-ID" b="1" dirty="0"/>
              <a:t> </a:t>
            </a:r>
            <a:r>
              <a:rPr lang="en-ID" b="1" dirty="0" err="1"/>
              <a:t>berbasis</a:t>
            </a:r>
            <a:r>
              <a:rPr lang="en-ID" b="1" dirty="0"/>
              <a:t> data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216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ID" b="1" dirty="0"/>
              <a:t>Dashboard </a:t>
            </a:r>
            <a:r>
              <a:rPr lang="en-ID" b="1" dirty="0" err="1"/>
              <a:t>ini</a:t>
            </a:r>
            <a:r>
              <a:rPr lang="en-ID" b="1" dirty="0"/>
              <a:t> </a:t>
            </a:r>
            <a:r>
              <a:rPr lang="en-ID" b="1" dirty="0" err="1"/>
              <a:t>disusun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</a:t>
            </a:r>
            <a:r>
              <a:rPr lang="en-ID" b="1" dirty="0" err="1"/>
              <a:t>empat</a:t>
            </a:r>
            <a:r>
              <a:rPr lang="en-ID" b="1" dirty="0"/>
              <a:t> </a:t>
            </a:r>
            <a:r>
              <a:rPr lang="en-ID" b="1" dirty="0" err="1"/>
              <a:t>halaman</a:t>
            </a:r>
            <a:r>
              <a:rPr lang="en-ID" b="1" dirty="0"/>
              <a:t> </a:t>
            </a:r>
            <a:r>
              <a:rPr lang="en-ID" b="1" dirty="0" err="1"/>
              <a:t>utama</a:t>
            </a:r>
            <a:r>
              <a:rPr lang="en-ID" b="1" dirty="0"/>
              <a:t> yang </a:t>
            </a:r>
            <a:r>
              <a:rPr lang="en-ID" b="1" dirty="0" err="1"/>
              <a:t>saling</a:t>
            </a:r>
            <a:r>
              <a:rPr lang="en-ID" b="1" dirty="0"/>
              <a:t> </a:t>
            </a:r>
            <a:r>
              <a:rPr lang="en-ID" b="1" dirty="0" err="1"/>
              <a:t>terhubung</a:t>
            </a:r>
            <a:r>
              <a:rPr lang="en-ID" b="1" dirty="0"/>
              <a:t>.</a:t>
            </a:r>
            <a:endParaRPr lang="en-ID" b="1" i="1" dirty="0"/>
          </a:p>
          <a:p>
            <a:pPr marL="171450" indent="-171450">
              <a:buFontTx/>
              <a:buChar char="-"/>
            </a:pPr>
            <a:r>
              <a:rPr lang="en-ID" i="1" dirty="0"/>
              <a:t>Executive Overview </a:t>
            </a:r>
            <a:r>
              <a:rPr lang="en-ID" i="1" dirty="0" err="1"/>
              <a:t>memberikan</a:t>
            </a:r>
            <a:r>
              <a:rPr lang="en-ID" i="1" dirty="0"/>
              <a:t> </a:t>
            </a:r>
            <a:r>
              <a:rPr lang="en-ID" i="1" dirty="0" err="1"/>
              <a:t>gambaran</a:t>
            </a:r>
            <a:r>
              <a:rPr lang="en-ID" i="1" dirty="0"/>
              <a:t> </a:t>
            </a:r>
            <a:r>
              <a:rPr lang="en-ID" i="1" dirty="0" err="1"/>
              <a:t>cepat</a:t>
            </a:r>
            <a:r>
              <a:rPr lang="en-ID" i="1" dirty="0"/>
              <a:t> </a:t>
            </a:r>
            <a:r>
              <a:rPr lang="en-ID" i="1" dirty="0" err="1"/>
              <a:t>kesehatan</a:t>
            </a:r>
            <a:r>
              <a:rPr lang="en-ID" i="1" dirty="0"/>
              <a:t> </a:t>
            </a:r>
            <a:r>
              <a:rPr lang="en-ID" i="1" dirty="0" err="1"/>
              <a:t>layanan</a:t>
            </a:r>
            <a:r>
              <a:rPr lang="en-ID" i="1" dirty="0"/>
              <a:t> </a:t>
            </a:r>
            <a:r>
              <a:rPr lang="en-ID" i="1" dirty="0" err="1"/>
              <a:t>secara</a:t>
            </a:r>
            <a:r>
              <a:rPr lang="en-ID" i="1" dirty="0"/>
              <a:t> </a:t>
            </a:r>
            <a:r>
              <a:rPr lang="en-ID" i="1" dirty="0" err="1"/>
              <a:t>keseluruhan</a:t>
            </a:r>
            <a:r>
              <a:rPr lang="en-ID" i="1" dirty="0"/>
              <a:t>.</a:t>
            </a:r>
          </a:p>
          <a:p>
            <a:pPr marL="171450" indent="-171450">
              <a:buFontTx/>
              <a:buChar char="-"/>
            </a:pPr>
            <a:r>
              <a:rPr lang="en-ID" i="1" dirty="0"/>
              <a:t>Service &amp; Operations </a:t>
            </a:r>
            <a:r>
              <a:rPr lang="en-ID" i="1" dirty="0" err="1"/>
              <a:t>digunakan</a:t>
            </a:r>
            <a:r>
              <a:rPr lang="en-ID" i="1" dirty="0"/>
              <a:t> </a:t>
            </a:r>
            <a:r>
              <a:rPr lang="en-ID" i="1" dirty="0" err="1"/>
              <a:t>untuk</a:t>
            </a:r>
            <a:r>
              <a:rPr lang="en-ID" i="1" dirty="0"/>
              <a:t> </a:t>
            </a:r>
            <a:r>
              <a:rPr lang="en-ID" i="1" dirty="0" err="1"/>
              <a:t>analisis</a:t>
            </a:r>
            <a:r>
              <a:rPr lang="en-ID" i="1" dirty="0"/>
              <a:t> </a:t>
            </a:r>
            <a:r>
              <a:rPr lang="en-ID" i="1" dirty="0" err="1"/>
              <a:t>operasional</a:t>
            </a:r>
            <a:r>
              <a:rPr lang="en-ID" i="1" dirty="0"/>
              <a:t> dan </a:t>
            </a:r>
            <a:r>
              <a:rPr lang="en-ID" i="1" dirty="0" err="1"/>
              <a:t>identifikasi</a:t>
            </a:r>
            <a:r>
              <a:rPr lang="en-ID" i="1" dirty="0"/>
              <a:t> </a:t>
            </a:r>
            <a:r>
              <a:rPr lang="en-ID" i="1" dirty="0" err="1"/>
              <a:t>penyebab</a:t>
            </a:r>
            <a:r>
              <a:rPr lang="en-ID" i="1" dirty="0"/>
              <a:t> </a:t>
            </a:r>
            <a:r>
              <a:rPr lang="en-ID" i="1" dirty="0" err="1"/>
              <a:t>masalah</a:t>
            </a:r>
            <a:r>
              <a:rPr lang="en-ID" i="1" dirty="0"/>
              <a:t> SLA.</a:t>
            </a:r>
          </a:p>
          <a:p>
            <a:pPr marL="171450" indent="-171450">
              <a:buFontTx/>
              <a:buChar char="-"/>
            </a:pPr>
            <a:r>
              <a:rPr lang="en-ID" i="1" dirty="0"/>
              <a:t>Client &amp; Region </a:t>
            </a:r>
            <a:r>
              <a:rPr lang="en-ID" i="1" dirty="0" err="1"/>
              <a:t>berfokus</a:t>
            </a:r>
            <a:r>
              <a:rPr lang="en-ID" i="1" dirty="0"/>
              <a:t> pada </a:t>
            </a:r>
            <a:r>
              <a:rPr lang="en-ID" i="1" dirty="0" err="1"/>
              <a:t>dampak</a:t>
            </a:r>
            <a:r>
              <a:rPr lang="en-ID" i="1" dirty="0"/>
              <a:t> </a:t>
            </a:r>
            <a:r>
              <a:rPr lang="en-ID" i="1" dirty="0" err="1"/>
              <a:t>ke</a:t>
            </a:r>
            <a:r>
              <a:rPr lang="en-ID" i="1" dirty="0"/>
              <a:t> </a:t>
            </a:r>
            <a:r>
              <a:rPr lang="en-ID" i="1" dirty="0" err="1"/>
              <a:t>klien</a:t>
            </a:r>
            <a:r>
              <a:rPr lang="en-ID" i="1" dirty="0"/>
              <a:t> dan wilayah, </a:t>
            </a:r>
            <a:r>
              <a:rPr lang="en-ID" i="1" dirty="0" err="1"/>
              <a:t>sehingga</a:t>
            </a:r>
            <a:r>
              <a:rPr lang="en-ID" i="1" dirty="0"/>
              <a:t> </a:t>
            </a:r>
            <a:r>
              <a:rPr lang="en-ID" i="1" dirty="0" err="1"/>
              <a:t>risiko</a:t>
            </a:r>
            <a:r>
              <a:rPr lang="en-ID" i="1" dirty="0"/>
              <a:t> </a:t>
            </a:r>
            <a:r>
              <a:rPr lang="en-ID" i="1" dirty="0" err="1"/>
              <a:t>dapat</a:t>
            </a:r>
            <a:r>
              <a:rPr lang="en-ID" i="1" dirty="0"/>
              <a:t> </a:t>
            </a:r>
            <a:r>
              <a:rPr lang="en-ID" i="1" dirty="0" err="1"/>
              <a:t>dikelola</a:t>
            </a:r>
            <a:r>
              <a:rPr lang="en-ID" i="1" dirty="0"/>
              <a:t> </a:t>
            </a:r>
            <a:r>
              <a:rPr lang="en-ID" i="1" dirty="0" err="1"/>
              <a:t>secara</a:t>
            </a:r>
            <a:r>
              <a:rPr lang="en-ID" i="1" dirty="0"/>
              <a:t> </a:t>
            </a:r>
            <a:r>
              <a:rPr lang="en-ID" i="1" dirty="0" err="1"/>
              <a:t>proaktif</a:t>
            </a:r>
            <a:r>
              <a:rPr lang="en-ID" i="1" dirty="0"/>
              <a:t>.</a:t>
            </a:r>
          </a:p>
          <a:p>
            <a:pPr marL="171450" indent="-171450">
              <a:buFontTx/>
              <a:buChar char="-"/>
            </a:pPr>
            <a:r>
              <a:rPr lang="en-ID" i="1" dirty="0"/>
              <a:t>Governance &amp; KPI Definition </a:t>
            </a:r>
            <a:r>
              <a:rPr lang="en-ID" i="1" dirty="0" err="1"/>
              <a:t>memastikan</a:t>
            </a:r>
            <a:r>
              <a:rPr lang="en-ID" i="1" dirty="0"/>
              <a:t> </a:t>
            </a:r>
            <a:r>
              <a:rPr lang="en-ID" i="1" dirty="0" err="1"/>
              <a:t>seluruh</a:t>
            </a:r>
            <a:r>
              <a:rPr lang="en-ID" i="1" dirty="0"/>
              <a:t> </a:t>
            </a:r>
            <a:r>
              <a:rPr lang="en-ID" i="1" dirty="0" err="1"/>
              <a:t>angka</a:t>
            </a:r>
            <a:r>
              <a:rPr lang="en-ID" i="1" dirty="0"/>
              <a:t> </a:t>
            </a:r>
            <a:r>
              <a:rPr lang="en-ID" i="1" dirty="0" err="1"/>
              <a:t>memiliki</a:t>
            </a:r>
            <a:r>
              <a:rPr lang="en-ID" i="1" dirty="0"/>
              <a:t> </a:t>
            </a:r>
            <a:r>
              <a:rPr lang="en-ID" i="1" dirty="0" err="1"/>
              <a:t>definisi</a:t>
            </a:r>
            <a:r>
              <a:rPr lang="en-ID" i="1" dirty="0"/>
              <a:t> yang </a:t>
            </a:r>
            <a:r>
              <a:rPr lang="en-ID" i="1" dirty="0" err="1"/>
              <a:t>jelas</a:t>
            </a:r>
            <a:r>
              <a:rPr lang="en-ID" i="1" dirty="0"/>
              <a:t>, </a:t>
            </a:r>
            <a:r>
              <a:rPr lang="en-ID" i="1" dirty="0" err="1"/>
              <a:t>sumber</a:t>
            </a:r>
            <a:r>
              <a:rPr lang="en-ID" i="1" dirty="0"/>
              <a:t> data yang </a:t>
            </a:r>
            <a:r>
              <a:rPr lang="en-ID" i="1" dirty="0" err="1"/>
              <a:t>transparan</a:t>
            </a:r>
            <a:r>
              <a:rPr lang="en-ID" i="1" dirty="0"/>
              <a:t>, dan </a:t>
            </a:r>
            <a:r>
              <a:rPr lang="en-ID" i="1" dirty="0" err="1"/>
              <a:t>siap</a:t>
            </a:r>
            <a:r>
              <a:rPr lang="en-ID" i="1" dirty="0"/>
              <a:t> </a:t>
            </a:r>
            <a:r>
              <a:rPr lang="en-ID" i="1" dirty="0" err="1"/>
              <a:t>untuk</a:t>
            </a:r>
            <a:r>
              <a:rPr lang="en-ID" i="1" dirty="0"/>
              <a:t> audit.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4129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SLA compliance </a:t>
            </a:r>
            <a:r>
              <a:rPr lang="en-ID" b="1" dirty="0" err="1"/>
              <a:t>berfluktuasi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waktu</a:t>
            </a:r>
            <a:r>
              <a:rPr lang="en-ID" b="1" dirty="0"/>
              <a:t> </a:t>
            </a:r>
            <a:r>
              <a:rPr lang="en-ID" b="1" dirty="0" err="1"/>
              <a:t>ke</a:t>
            </a:r>
            <a:r>
              <a:rPr lang="en-ID" b="1" dirty="0"/>
              <a:t> </a:t>
            </a:r>
            <a:r>
              <a:rPr lang="en-ID" b="1" dirty="0" err="1"/>
              <a:t>waktu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Mayoritas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di severity </a:t>
            </a:r>
            <a:r>
              <a:rPr lang="en-ID" b="1" dirty="0"/>
              <a:t>Low–Medium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High–Critical incidents</a:t>
            </a:r>
            <a:r>
              <a:rPr lang="en-ID" dirty="0"/>
              <a:t>,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,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SLA </a:t>
            </a:r>
            <a:r>
              <a:rPr lang="en-ID" dirty="0" err="1"/>
              <a:t>terbesar</a:t>
            </a:r>
            <a:endParaRPr lang="en-ID" dirty="0"/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Volume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b="1" dirty="0" err="1"/>
              <a:t>bukan</a:t>
            </a:r>
            <a:r>
              <a:rPr lang="en-ID" b="1" dirty="0"/>
              <a:t> </a:t>
            </a:r>
            <a:r>
              <a:rPr lang="en-ID" b="1" dirty="0" err="1"/>
              <a:t>satu-satunya</a:t>
            </a:r>
            <a:r>
              <a:rPr lang="en-ID" b="1" dirty="0"/>
              <a:t> </a:t>
            </a:r>
            <a:r>
              <a:rPr lang="en-ID" b="1" dirty="0" err="1"/>
              <a:t>masalah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Dampak</a:t>
            </a:r>
            <a:r>
              <a:rPr lang="en-ID" dirty="0"/>
              <a:t> dan </a:t>
            </a:r>
            <a:r>
              <a:rPr lang="en-ID" dirty="0" err="1"/>
              <a:t>prioritas</a:t>
            </a:r>
            <a:r>
              <a:rPr lang="en-ID" dirty="0"/>
              <a:t> </a:t>
            </a:r>
            <a:r>
              <a:rPr lang="en-ID" dirty="0" err="1"/>
              <a:t>penanganan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krusial</a:t>
            </a:r>
            <a:endParaRPr lang="en-ID" dirty="0"/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 SLA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sasaran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di level </a:t>
            </a:r>
            <a:r>
              <a:rPr lang="en-ID" dirty="0" err="1"/>
              <a:t>manajemen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Penurunan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eskalasi</a:t>
            </a:r>
            <a:r>
              <a:rPr lang="en-ID" dirty="0"/>
              <a:t> </a:t>
            </a:r>
            <a:r>
              <a:rPr lang="en-ID" dirty="0" err="1"/>
              <a:t>layanan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9748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SLA compliance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b="1" dirty="0" err="1"/>
              <a:t>jenis</a:t>
            </a:r>
            <a:r>
              <a:rPr lang="en-ID" b="1" dirty="0"/>
              <a:t> </a:t>
            </a:r>
            <a:r>
              <a:rPr lang="en-ID" b="1" dirty="0" err="1"/>
              <a:t>layanan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 err="1"/>
              <a:t>utilisasi</a:t>
            </a:r>
            <a:r>
              <a:rPr lang="en-ID" b="1" dirty="0"/>
              <a:t> </a:t>
            </a:r>
            <a:r>
              <a:rPr lang="en-ID" b="1" dirty="0" err="1"/>
              <a:t>tinggi</a:t>
            </a:r>
            <a:r>
              <a:rPr lang="en-ID" dirty="0"/>
              <a:t> </a:t>
            </a:r>
            <a:r>
              <a:rPr lang="en-ID" dirty="0" err="1"/>
              <a:t>cenderung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b="1" dirty="0"/>
              <a:t>MTTR </a:t>
            </a:r>
            <a:r>
              <a:rPr lang="en-ID" b="1" dirty="0" err="1"/>
              <a:t>lebih</a:t>
            </a:r>
            <a:r>
              <a:rPr lang="en-ID" b="1" dirty="0"/>
              <a:t> lama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SLA breach </a:t>
            </a:r>
            <a:r>
              <a:rPr lang="en-ID" dirty="0" err="1"/>
              <a:t>terkonsentrasi</a:t>
            </a:r>
            <a:r>
              <a:rPr lang="en-ID" dirty="0"/>
              <a:t> pada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tertentu</a:t>
            </a:r>
            <a:endParaRPr lang="en-ID" dirty="0"/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Ada </a:t>
            </a:r>
            <a:r>
              <a:rPr lang="en-ID" dirty="0" err="1"/>
              <a:t>indikasi</a:t>
            </a:r>
            <a:r>
              <a:rPr lang="en-ID" dirty="0"/>
              <a:t> </a:t>
            </a:r>
            <a:r>
              <a:rPr lang="en-ID" b="1" dirty="0"/>
              <a:t>capacity bottleneck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Proses </a:t>
            </a:r>
            <a:r>
              <a:rPr lang="en-ID" dirty="0" err="1"/>
              <a:t>penanganan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layanan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endParaRPr lang="en-ID" dirty="0"/>
          </a:p>
          <a:p>
            <a:r>
              <a:rPr lang="en-ID" b="1" dirty="0"/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Optimasi</a:t>
            </a:r>
            <a:r>
              <a:rPr lang="en-ID" dirty="0"/>
              <a:t> resource &amp; capacity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Perbaikan</a:t>
            </a:r>
            <a:r>
              <a:rPr lang="en-ID" dirty="0"/>
              <a:t> proses </a:t>
            </a:r>
            <a:r>
              <a:rPr lang="en-ID" dirty="0" err="1"/>
              <a:t>operasional</a:t>
            </a:r>
            <a:r>
              <a:rPr lang="en-ID" dirty="0"/>
              <a:t> yang </a:t>
            </a:r>
            <a:r>
              <a:rPr lang="en-ID" dirty="0" err="1"/>
              <a:t>terarah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jangka</a:t>
            </a:r>
            <a:r>
              <a:rPr lang="en-ID" dirty="0"/>
              <a:t> </a:t>
            </a:r>
            <a:r>
              <a:rPr lang="en-ID" dirty="0" err="1"/>
              <a:t>menengah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4409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klien</a:t>
            </a:r>
            <a:r>
              <a:rPr lang="en-ID" dirty="0"/>
              <a:t> </a:t>
            </a:r>
            <a:r>
              <a:rPr lang="en-ID" dirty="0" err="1"/>
              <a:t>konsisten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b="1" dirty="0"/>
              <a:t>di </a:t>
            </a:r>
            <a:r>
              <a:rPr lang="en-ID" b="1" dirty="0" err="1"/>
              <a:t>bawah</a:t>
            </a:r>
            <a:r>
              <a:rPr lang="en-ID" b="1" dirty="0"/>
              <a:t> target SLA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Risiko</a:t>
            </a:r>
            <a:r>
              <a:rPr lang="en-ID" dirty="0"/>
              <a:t> SLA </a:t>
            </a:r>
            <a:r>
              <a:rPr lang="en-ID" dirty="0" err="1"/>
              <a:t>terkonsentrasi</a:t>
            </a:r>
            <a:r>
              <a:rPr lang="en-ID" dirty="0"/>
              <a:t> di </a:t>
            </a:r>
            <a:r>
              <a:rPr lang="en-ID" b="1" dirty="0"/>
              <a:t>region </a:t>
            </a:r>
            <a:r>
              <a:rPr lang="en-ID" b="1" dirty="0" err="1"/>
              <a:t>tertentu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Klien</a:t>
            </a:r>
            <a:r>
              <a:rPr lang="en-ID" dirty="0"/>
              <a:t> </a:t>
            </a:r>
            <a:r>
              <a:rPr lang="en-ID" dirty="0" err="1"/>
              <a:t>berisiko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diidentifikasi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visual alert</a:t>
            </a:r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klien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Pendekatan</a:t>
            </a:r>
            <a:r>
              <a:rPr lang="en-ID" dirty="0"/>
              <a:t> one-size-fits-all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efektif</a:t>
            </a:r>
            <a:endParaRPr lang="en-ID" dirty="0"/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Proactive account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Penurunan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klien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terjaga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4519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Key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Visual </a:t>
            </a:r>
            <a:r>
              <a:rPr lang="en-ID" b="1" dirty="0"/>
              <a:t>data lineage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source </a:t>
            </a:r>
            <a:r>
              <a:rPr lang="en-ID" dirty="0" err="1"/>
              <a:t>hingga</a:t>
            </a:r>
            <a:r>
              <a:rPr lang="en-ID" dirty="0"/>
              <a:t>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Referensi</a:t>
            </a:r>
            <a:r>
              <a:rPr lang="en-ID" dirty="0"/>
              <a:t> </a:t>
            </a:r>
            <a:r>
              <a:rPr lang="en-ID" b="1" dirty="0"/>
              <a:t>data source &amp; ownership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Standarisasi</a:t>
            </a:r>
            <a:r>
              <a:rPr lang="en-ID" dirty="0"/>
              <a:t> </a:t>
            </a:r>
            <a:r>
              <a:rPr lang="en-ID" dirty="0" err="1"/>
              <a:t>definisi</a:t>
            </a:r>
            <a:r>
              <a:rPr lang="en-ID" dirty="0"/>
              <a:t> 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Informasi</a:t>
            </a:r>
            <a:r>
              <a:rPr lang="en-ID" dirty="0"/>
              <a:t> refresh &amp; accountability</a:t>
            </a:r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Dashboard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informatif</a:t>
            </a:r>
            <a:r>
              <a:rPr lang="en-ID" dirty="0"/>
              <a:t>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b="1" dirty="0" err="1"/>
              <a:t>terpercaya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Satu </a:t>
            </a:r>
            <a:r>
              <a:rPr lang="en-ID" dirty="0" err="1"/>
              <a:t>versi</a:t>
            </a:r>
            <a:r>
              <a:rPr lang="en-ID" dirty="0"/>
              <a:t> </a:t>
            </a:r>
            <a:r>
              <a:rPr lang="en-ID" dirty="0" err="1"/>
              <a:t>kebenaran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stakeholder</a:t>
            </a:r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Keputusan </a:t>
            </a:r>
            <a:r>
              <a:rPr lang="en-ID" dirty="0" err="1"/>
              <a:t>berbasis</a:t>
            </a:r>
            <a:r>
              <a:rPr lang="en-ID" dirty="0"/>
              <a:t> data yang </a:t>
            </a:r>
            <a:r>
              <a:rPr lang="en-ID" dirty="0" err="1"/>
              <a:t>konsisten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Audit-ready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kepercayaan</a:t>
            </a:r>
            <a:r>
              <a:rPr lang="en-ID" dirty="0"/>
              <a:t> internal &amp; </a:t>
            </a:r>
            <a:r>
              <a:rPr lang="en-ID" dirty="0" err="1"/>
              <a:t>eksternal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4782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Value Delivered by the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Reliability</a:t>
            </a:r>
            <a:r>
              <a:rPr lang="en-ID" dirty="0"/>
              <a:t> → SLA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terjaga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Visibility</a:t>
            </a:r>
            <a:r>
              <a:rPr lang="en-ID" dirty="0"/>
              <a:t> →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terdeteksi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awal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Efficiency</a:t>
            </a:r>
            <a:r>
              <a:rPr lang="en-ID" dirty="0"/>
              <a:t> → </a:t>
            </a:r>
            <a:r>
              <a:rPr lang="en-ID" dirty="0" err="1"/>
              <a:t>Optimalisasi</a:t>
            </a:r>
            <a:r>
              <a:rPr lang="en-ID" dirty="0"/>
              <a:t> resource &amp;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Trust</a:t>
            </a:r>
            <a:r>
              <a:rPr lang="en-ID" dirty="0"/>
              <a:t> → Data </a:t>
            </a:r>
            <a:r>
              <a:rPr lang="en-ID" dirty="0" err="1"/>
              <a:t>transparan</a:t>
            </a:r>
            <a:r>
              <a:rPr lang="en-ID" dirty="0"/>
              <a:t> &amp; auditable</a:t>
            </a:r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dirty="0"/>
              <a:t>➡️ </a:t>
            </a:r>
            <a:r>
              <a:rPr lang="en-ID" i="1" dirty="0"/>
              <a:t>Dashboard </a:t>
            </a:r>
            <a:r>
              <a:rPr lang="en-ID" i="1" dirty="0" err="1"/>
              <a:t>sebagai</a:t>
            </a:r>
            <a:r>
              <a:rPr lang="en-ID" i="1" dirty="0"/>
              <a:t> </a:t>
            </a:r>
            <a:r>
              <a:rPr lang="en-ID" i="1" dirty="0" err="1"/>
              <a:t>alat</a:t>
            </a:r>
            <a:r>
              <a:rPr lang="en-ID" i="1" dirty="0"/>
              <a:t> </a:t>
            </a:r>
            <a:r>
              <a:rPr lang="en-ID" i="1" dirty="0" err="1"/>
              <a:t>kontrol</a:t>
            </a:r>
            <a:r>
              <a:rPr lang="en-ID" i="1" dirty="0"/>
              <a:t> </a:t>
            </a:r>
            <a:r>
              <a:rPr lang="en-ID" i="1" dirty="0" err="1"/>
              <a:t>manajemen</a:t>
            </a:r>
            <a:r>
              <a:rPr lang="en-ID" i="1" dirty="0"/>
              <a:t>, </a:t>
            </a:r>
            <a:r>
              <a:rPr lang="en-ID" i="1" dirty="0" err="1"/>
              <a:t>bukan</a:t>
            </a:r>
            <a:r>
              <a:rPr lang="en-ID" i="1" dirty="0"/>
              <a:t> </a:t>
            </a:r>
            <a:r>
              <a:rPr lang="en-ID" i="1" dirty="0" err="1"/>
              <a:t>sekadar</a:t>
            </a:r>
            <a:r>
              <a:rPr lang="en-ID" i="1" dirty="0"/>
              <a:t> </a:t>
            </a:r>
            <a:r>
              <a:rPr lang="en-ID" i="1" dirty="0" err="1"/>
              <a:t>laporan</a:t>
            </a:r>
            <a:r>
              <a:rPr lang="en-ID" i="1" dirty="0"/>
              <a:t>.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74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Short Term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 pada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SLA breach </a:t>
            </a:r>
            <a:r>
              <a:rPr lang="en-ID" dirty="0" err="1"/>
              <a:t>tertinggi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Prioritaskan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High–Critical</a:t>
            </a:r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Medium Term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Optimasi</a:t>
            </a:r>
            <a:r>
              <a:rPr lang="en-ID" dirty="0"/>
              <a:t> capacity pada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utilisasi</a:t>
            </a:r>
            <a:r>
              <a:rPr lang="en-ID" dirty="0"/>
              <a:t> </a:t>
            </a:r>
            <a:r>
              <a:rPr lang="en-ID" dirty="0" err="1"/>
              <a:t>tinggi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dirty="0" err="1"/>
              <a:t>Standarisasi</a:t>
            </a:r>
            <a:r>
              <a:rPr lang="en-ID" dirty="0"/>
              <a:t> proses incident handling</a:t>
            </a:r>
          </a:p>
          <a:p>
            <a:pPr>
              <a:buFont typeface="Arial" panose="020B0604020202020204" pitchFamily="34" charset="0"/>
              <a:buNone/>
            </a:pPr>
            <a:endParaRPr lang="en-ID" dirty="0"/>
          </a:p>
          <a:p>
            <a:r>
              <a:rPr lang="en-ID" b="1" dirty="0"/>
              <a:t>Long Term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Integrasi predictive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dirty="0"/>
              <a:t>SLA improvement program </a:t>
            </a:r>
            <a:r>
              <a:rPr lang="en-ID" dirty="0" err="1"/>
              <a:t>berbasis</a:t>
            </a:r>
            <a:r>
              <a:rPr lang="en-ID" dirty="0"/>
              <a:t> data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2404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Dengan</a:t>
            </a:r>
            <a:r>
              <a:rPr lang="en-ID" dirty="0"/>
              <a:t> dashboard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alat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memonitor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proaktif</a:t>
            </a:r>
            <a:r>
              <a:rPr lang="en-ID" dirty="0"/>
              <a:t>,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data,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transparansi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keandalan</a:t>
            </a:r>
            <a:r>
              <a:rPr lang="en-ID" dirty="0"/>
              <a:t> </a:t>
            </a:r>
            <a:r>
              <a:rPr lang="en-ID" dirty="0" err="1"/>
              <a:t>pelaporan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8343A-73E8-4CD5-A43D-2FFB800E4BD9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1678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5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1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2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1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2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5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9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6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43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8950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30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61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20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4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2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062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28790"/>
            <a:ext cx="6205330" cy="1143000"/>
          </a:xfrm>
        </p:spPr>
        <p:txBody>
          <a:bodyPr>
            <a:noAutofit/>
          </a:bodyPr>
          <a:lstStyle/>
          <a:p>
            <a:pPr algn="ctr"/>
            <a:r>
              <a:rPr sz="2800" b="1" dirty="0"/>
              <a:t>Managed Services Performance </a:t>
            </a:r>
            <a:br>
              <a:rPr lang="en-US" sz="2800" b="1" dirty="0"/>
            </a:br>
            <a:r>
              <a:rPr lang="en-US" sz="2800" b="1" dirty="0"/>
              <a:t>and</a:t>
            </a:r>
            <a:r>
              <a:rPr sz="2800" b="1" dirty="0"/>
              <a:t> SLA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539"/>
            <a:ext cx="8229600" cy="3607903"/>
          </a:xfrm>
        </p:spPr>
        <p:txBody>
          <a:bodyPr>
            <a:normAutofit/>
          </a:bodyPr>
          <a:lstStyle/>
          <a:p>
            <a:r>
              <a:rPr sz="2400" dirty="0"/>
              <a:t>Driving Service Reliability, SLA Compliance, and Operational Efficiency</a:t>
            </a:r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Audience: Executive, Service Management, Operations, Audit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b="1" dirty="0"/>
              <a:t>              Prepared by:</a:t>
            </a:r>
            <a:r>
              <a:rPr lang="en-GB" dirty="0"/>
              <a:t> Achmad Surya Andono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6477" y="313718"/>
            <a:ext cx="7429499" cy="1478570"/>
          </a:xfrm>
        </p:spPr>
        <p:txBody>
          <a:bodyPr>
            <a:normAutofit/>
          </a:bodyPr>
          <a:lstStyle/>
          <a:p>
            <a:r>
              <a:rPr sz="2800" b="1" dirty="0"/>
              <a:t>Business Context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9197" y="1600200"/>
            <a:ext cx="6983412" cy="4140199"/>
          </a:xfrm>
        </p:spPr>
        <p:txBody>
          <a:bodyPr>
            <a:noAutofit/>
          </a:bodyPr>
          <a:lstStyle/>
          <a:p>
            <a:r>
              <a:rPr dirty="0"/>
              <a:t>Managed services operate under strict SLA</a:t>
            </a:r>
            <a:endParaRPr lang="en-US" dirty="0"/>
          </a:p>
          <a:p>
            <a:r>
              <a:rPr dirty="0"/>
              <a:t>Incidents impact customer satisfaction and cost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Objective:</a:t>
            </a:r>
            <a:endParaRPr lang="en-US" b="1" dirty="0"/>
          </a:p>
          <a:p>
            <a:r>
              <a:rPr dirty="0"/>
              <a:t>End-to-end visibility</a:t>
            </a:r>
            <a:endParaRPr lang="en-US" dirty="0"/>
          </a:p>
          <a:p>
            <a:r>
              <a:rPr dirty="0"/>
              <a:t>Early SLA risk detection</a:t>
            </a:r>
            <a:endParaRPr lang="en-US" dirty="0"/>
          </a:p>
          <a:p>
            <a:r>
              <a:rPr dirty="0"/>
              <a:t>Data-driven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365" y="457201"/>
            <a:ext cx="6685722" cy="1143000"/>
          </a:xfrm>
        </p:spPr>
        <p:txBody>
          <a:bodyPr>
            <a:normAutofit/>
          </a:bodyPr>
          <a:lstStyle/>
          <a:p>
            <a:r>
              <a:rPr sz="2800" b="1" dirty="0"/>
              <a:t>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4365" y="1782764"/>
            <a:ext cx="6685722" cy="2865436"/>
          </a:xfrm>
        </p:spPr>
        <p:txBody>
          <a:bodyPr>
            <a:normAutofit/>
          </a:bodyPr>
          <a:lstStyle/>
          <a:p>
            <a:r>
              <a:rPr sz="2400" dirty="0"/>
              <a:t>Executive Overview – Service health check</a:t>
            </a:r>
          </a:p>
          <a:p>
            <a:r>
              <a:rPr sz="2400" dirty="0"/>
              <a:t>Service &amp; Operations – Root cause analysis</a:t>
            </a:r>
          </a:p>
          <a:p>
            <a:r>
              <a:rPr sz="2400" dirty="0"/>
              <a:t>Client &amp; Region – Risk exposure</a:t>
            </a:r>
          </a:p>
          <a:p>
            <a:r>
              <a:rPr sz="2400" dirty="0"/>
              <a:t>Governance &amp; KPI Definition – Trust &amp;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165" y="618518"/>
            <a:ext cx="7429499" cy="761549"/>
          </a:xfrm>
        </p:spPr>
        <p:txBody>
          <a:bodyPr>
            <a:normAutofit/>
          </a:bodyPr>
          <a:lstStyle/>
          <a:p>
            <a:r>
              <a:rPr sz="2800" b="1" dirty="0"/>
              <a:t>Executive Overview –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6698" y="1749955"/>
            <a:ext cx="7002478" cy="4600044"/>
          </a:xfrm>
        </p:spPr>
        <p:txBody>
          <a:bodyPr>
            <a:noAutofit/>
          </a:bodyPr>
          <a:lstStyle/>
          <a:p>
            <a:r>
              <a:rPr dirty="0"/>
              <a:t>SLA fluctuates over time</a:t>
            </a:r>
            <a:endParaRPr lang="en-US" dirty="0"/>
          </a:p>
          <a:p>
            <a:r>
              <a:rPr lang="en-GB" dirty="0"/>
              <a:t>The majority of incidents fall within the Low–Medium severity range.</a:t>
            </a:r>
            <a:endParaRPr dirty="0"/>
          </a:p>
          <a:p>
            <a:r>
              <a:rPr dirty="0"/>
              <a:t>High–Critical incidents drive SLA impact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dirty="0"/>
              <a:t>Business Impact:</a:t>
            </a:r>
          </a:p>
          <a:p>
            <a:r>
              <a:rPr dirty="0"/>
              <a:t>Faster executive decisions</a:t>
            </a:r>
            <a:endParaRPr lang="en-US" dirty="0"/>
          </a:p>
          <a:p>
            <a:r>
              <a:rPr dirty="0"/>
              <a:t>Focused SLA improvement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634" y="167944"/>
            <a:ext cx="7429499" cy="1478570"/>
          </a:xfrm>
        </p:spPr>
        <p:txBody>
          <a:bodyPr>
            <a:normAutofit/>
          </a:bodyPr>
          <a:lstStyle/>
          <a:p>
            <a:r>
              <a:rPr sz="2800" b="1" dirty="0"/>
              <a:t>Service &amp; Operations –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501" y="1358646"/>
            <a:ext cx="7429499" cy="4635754"/>
          </a:xfrm>
        </p:spPr>
        <p:txBody>
          <a:bodyPr>
            <a:noAutofit/>
          </a:bodyPr>
          <a:lstStyle/>
          <a:p>
            <a:r>
              <a:rPr lang="en-GB" dirty="0"/>
              <a:t>SLA compliance varies across service types.</a:t>
            </a:r>
          </a:p>
          <a:p>
            <a:r>
              <a:rPr lang="en-GB" dirty="0"/>
              <a:t>Services with higher utilization tend to have longer MTTR.</a:t>
            </a:r>
          </a:p>
          <a:p>
            <a:r>
              <a:rPr lang="en-GB" dirty="0"/>
              <a:t>SLA breaches are concentrated in specific services.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Business Impact:</a:t>
            </a:r>
          </a:p>
          <a:p>
            <a:r>
              <a:rPr lang="en-GB" dirty="0"/>
              <a:t>Resource optimization &amp; capacity planning</a:t>
            </a:r>
          </a:p>
          <a:p>
            <a:r>
              <a:rPr lang="en-GB" dirty="0"/>
              <a:t>Targeted operational process improvements</a:t>
            </a:r>
          </a:p>
          <a:p>
            <a:r>
              <a:rPr lang="en-GB" dirty="0"/>
              <a:t>Mid-term operational cost efficiency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904" y="194449"/>
            <a:ext cx="7429499" cy="1109418"/>
          </a:xfrm>
        </p:spPr>
        <p:txBody>
          <a:bodyPr>
            <a:normAutofit/>
          </a:bodyPr>
          <a:lstStyle/>
          <a:p>
            <a:r>
              <a:rPr sz="2800" b="1" dirty="0"/>
              <a:t>Client &amp; Region –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904" y="1303867"/>
            <a:ext cx="7429499" cy="4766733"/>
          </a:xfrm>
        </p:spPr>
        <p:txBody>
          <a:bodyPr>
            <a:normAutofit/>
          </a:bodyPr>
          <a:lstStyle/>
          <a:p>
            <a:r>
              <a:rPr lang="en-GB" sz="2400" dirty="0"/>
              <a:t>Several clients consistently perform below SLA targets.</a:t>
            </a:r>
          </a:p>
          <a:p>
            <a:r>
              <a:rPr lang="en-GB" sz="2400" dirty="0"/>
              <a:t>SLA risk is concentrated in specific regions.</a:t>
            </a:r>
          </a:p>
          <a:p>
            <a:r>
              <a:rPr lang="en-GB" sz="2400" dirty="0"/>
              <a:t>High-risk clients are easily identified through visual alerts.</a:t>
            </a:r>
            <a:endParaRPr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dirty="0"/>
              <a:t>Business Impact:</a:t>
            </a:r>
          </a:p>
          <a:p>
            <a:r>
              <a:rPr lang="en-GB" sz="2400" dirty="0"/>
              <a:t>Proactive account management</a:t>
            </a:r>
          </a:p>
          <a:p>
            <a:r>
              <a:rPr lang="en-GB" sz="2400" dirty="0"/>
              <a:t>Reduced churn risk</a:t>
            </a:r>
          </a:p>
          <a:p>
            <a:r>
              <a:rPr lang="en-GB" sz="2400" dirty="0"/>
              <a:t>Stronger client relationships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164" y="432988"/>
            <a:ext cx="7429499" cy="1065612"/>
          </a:xfrm>
        </p:spPr>
        <p:txBody>
          <a:bodyPr>
            <a:normAutofit/>
          </a:bodyPr>
          <a:lstStyle/>
          <a:p>
            <a:r>
              <a:rPr sz="2800" b="1" dirty="0"/>
              <a:t>Governance &amp; KPI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564" y="1420489"/>
            <a:ext cx="7429499" cy="5064977"/>
          </a:xfrm>
        </p:spPr>
        <p:txBody>
          <a:bodyPr>
            <a:noAutofit/>
          </a:bodyPr>
          <a:lstStyle/>
          <a:p>
            <a:r>
              <a:rPr lang="en-GB" dirty="0"/>
              <a:t>Visual data lineage from source to dashboard</a:t>
            </a:r>
          </a:p>
          <a:p>
            <a:r>
              <a:rPr lang="en-GB" dirty="0"/>
              <a:t>Data source references &amp; ownership</a:t>
            </a:r>
          </a:p>
          <a:p>
            <a:r>
              <a:rPr lang="en-GB" dirty="0"/>
              <a:t>Standardized KPI definitions</a:t>
            </a:r>
          </a:p>
          <a:p>
            <a:r>
              <a:rPr lang="en-GB" dirty="0"/>
              <a:t>Refresh information &amp; accountability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Business Impact:</a:t>
            </a:r>
          </a:p>
          <a:p>
            <a:r>
              <a:rPr lang="en-GB" dirty="0"/>
              <a:t>Consistent data-driven decision-making</a:t>
            </a:r>
          </a:p>
          <a:p>
            <a:r>
              <a:rPr lang="en-GB" dirty="0"/>
              <a:t>Audit-ready reporting</a:t>
            </a:r>
          </a:p>
          <a:p>
            <a:r>
              <a:rPr lang="en-GB" dirty="0"/>
              <a:t>Increased internal &amp; external trust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930" y="485996"/>
            <a:ext cx="7429499" cy="1478570"/>
          </a:xfrm>
        </p:spPr>
        <p:txBody>
          <a:bodyPr>
            <a:normAutofit/>
          </a:bodyPr>
          <a:lstStyle/>
          <a:p>
            <a:r>
              <a:rPr sz="2800" b="1" dirty="0"/>
              <a:t>Overall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263" y="1964566"/>
            <a:ext cx="4849737" cy="2607435"/>
          </a:xfrm>
        </p:spPr>
        <p:txBody>
          <a:bodyPr>
            <a:normAutofit/>
          </a:bodyPr>
          <a:lstStyle/>
          <a:p>
            <a:r>
              <a:rPr sz="2400" dirty="0"/>
              <a:t>Reliability</a:t>
            </a:r>
          </a:p>
          <a:p>
            <a:r>
              <a:rPr sz="2400" dirty="0"/>
              <a:t>Visibility</a:t>
            </a:r>
          </a:p>
          <a:p>
            <a:r>
              <a:rPr sz="2400" dirty="0"/>
              <a:t>Efficiency</a:t>
            </a:r>
          </a:p>
          <a:p>
            <a:r>
              <a:rPr sz="2400" dirty="0"/>
              <a:t>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8834" y="93585"/>
            <a:ext cx="7429499" cy="837749"/>
          </a:xfrm>
        </p:spPr>
        <p:txBody>
          <a:bodyPr>
            <a:normAutofit/>
          </a:bodyPr>
          <a:lstStyle/>
          <a:p>
            <a:r>
              <a:rPr sz="2800" b="1" dirty="0"/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901" y="951176"/>
            <a:ext cx="7429499" cy="5906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Short Term:</a:t>
            </a:r>
            <a:endParaRPr lang="en-US" dirty="0"/>
          </a:p>
          <a:p>
            <a:r>
              <a:rPr lang="en-GB" dirty="0"/>
              <a:t>Focus remediation on services with the highest SLA breaches.</a:t>
            </a:r>
          </a:p>
          <a:p>
            <a:r>
              <a:rPr lang="en-GB" dirty="0"/>
              <a:t>Prioritize High–Critical incidents.</a:t>
            </a:r>
            <a:endParaRPr dirty="0"/>
          </a:p>
          <a:p>
            <a:pPr marL="0" indent="0">
              <a:buNone/>
            </a:pPr>
            <a:r>
              <a:rPr dirty="0"/>
              <a:t>Medium Term:</a:t>
            </a:r>
          </a:p>
          <a:p>
            <a:r>
              <a:rPr lang="en-GB" dirty="0"/>
              <a:t>Optimize capacity for high-utilization services.</a:t>
            </a:r>
          </a:p>
          <a:p>
            <a:r>
              <a:rPr lang="en-GB" dirty="0"/>
              <a:t>Standardize incident handling processes.</a:t>
            </a:r>
            <a:endParaRPr dirty="0"/>
          </a:p>
          <a:p>
            <a:pPr marL="0" indent="0">
              <a:buNone/>
            </a:pPr>
            <a:r>
              <a:rPr dirty="0"/>
              <a:t>Long Term:</a:t>
            </a:r>
          </a:p>
          <a:p>
            <a:r>
              <a:rPr lang="en-GB" dirty="0"/>
              <a:t>Integrate predictive analytics.</a:t>
            </a:r>
          </a:p>
          <a:p>
            <a:r>
              <a:rPr lang="en-GB" dirty="0"/>
              <a:t>Implement a data-driven SLA improvement program.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1" y="1055840"/>
            <a:ext cx="7429499" cy="1478570"/>
          </a:xfrm>
        </p:spPr>
        <p:txBody>
          <a:bodyPr>
            <a:normAutofit/>
          </a:bodyPr>
          <a:lstStyle/>
          <a:p>
            <a:r>
              <a:rPr sz="2800" b="1" dirty="0"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5641" y="2395331"/>
            <a:ext cx="8229600" cy="1249017"/>
          </a:xfrm>
        </p:spPr>
        <p:txBody>
          <a:bodyPr>
            <a:normAutofit/>
          </a:bodyPr>
          <a:lstStyle/>
          <a:p>
            <a:r>
              <a:rPr sz="2400" dirty="0"/>
              <a:t>Dashboard enables proactive service management</a:t>
            </a:r>
          </a:p>
          <a:p>
            <a:r>
              <a:rPr sz="2400" dirty="0"/>
              <a:t>reliable decision-making, and transparent reporting.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40</TotalTime>
  <Words>831</Words>
  <Application>Microsoft Office PowerPoint</Application>
  <PresentationFormat>On-screen Show (4:3)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Circuit</vt:lpstr>
      <vt:lpstr>Managed Services Performance  and SLA Analytics</vt:lpstr>
      <vt:lpstr>Business Context &amp; Objective</vt:lpstr>
      <vt:lpstr>Dashboard Structure</vt:lpstr>
      <vt:lpstr>Executive Overview – Key Insights</vt:lpstr>
      <vt:lpstr>Service &amp; Operations – Key Insights</vt:lpstr>
      <vt:lpstr>Client &amp; Region – Key Insights</vt:lpstr>
      <vt:lpstr>Governance &amp; KPI Definition</vt:lpstr>
      <vt:lpstr>Overall Business Value</vt:lpstr>
      <vt:lpstr>Recommended Actions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andono</cp:lastModifiedBy>
  <cp:revision>22</cp:revision>
  <dcterms:created xsi:type="dcterms:W3CDTF">2013-01-27T09:14:16Z</dcterms:created>
  <dcterms:modified xsi:type="dcterms:W3CDTF">2025-12-27T04:35:16Z</dcterms:modified>
  <cp:category/>
</cp:coreProperties>
</file>